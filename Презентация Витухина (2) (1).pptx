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0" r:id="rId4"/>
    <p:sldId id="262" r:id="rId5"/>
    <p:sldId id="263" r:id="rId6"/>
    <p:sldId id="264" r:id="rId7"/>
    <p:sldId id="265" r:id="rId8"/>
    <p:sldId id="266" r:id="rId9"/>
    <p:sldId id="267" r:id="rId11"/>
    <p:sldId id="268" r:id="rId12"/>
    <p:sldId id="273" r:id="rId13"/>
    <p:sldId id="271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48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440B6-7C81-42CA-B677-FFA057057F6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704CE-54E0-4534-9966-10FF36A37516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704CE-54E0-4534-9966-10FF36A37516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endParaRPr lang="ru-RU" dirty="0"/>
          </a:p>
        </p:txBody>
      </p:sp>
      <p:sp>
        <p:nvSpPr>
          <p:cNvPr id="14" name="Заголовок 1"/>
          <p:cNvSpPr txBox="1"/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15" name="Заголовок 1"/>
          <p:cNvSpPr txBox="1"/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16" name="Заголовок 1"/>
          <p:cNvSpPr txBox="1"/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  <a:endParaRPr lang="ru-RU" sz="2400" dirty="0"/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  <a:endParaRPr lang="ru-RU" sz="2400" dirty="0"/>
          </a:p>
        </p:txBody>
      </p:sp>
      <p:sp>
        <p:nvSpPr>
          <p:cNvPr id="22" name="Заголовок 1"/>
          <p:cNvSpPr txBox="1"/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  <a:endParaRPr lang="ru-RU" dirty="0"/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  <a:endParaRPr lang="ru-RU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b="1" dirty="0"/>
              <a:t>Учёт сотрудников предприятия.</a:t>
            </a:r>
            <a:br>
              <a:rPr lang="ru-RU" sz="4000" b="1" dirty="0"/>
            </a:br>
            <a:r>
              <a:rPr lang="ru-RU" sz="4000" b="1" dirty="0"/>
              <a:t>Разработка программного решения для автоматизации кадрового учёта</a:t>
            </a:r>
            <a:endParaRPr lang="ru-RU" sz="40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Витухина Анастасия Михайловна, Ит-7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568411" y="1820562"/>
            <a:ext cx="11310551" cy="462966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500" b="1" dirty="0"/>
              <a:t>Цель проекта</a:t>
            </a:r>
            <a:r>
              <a:rPr lang="en-US" sz="3500" b="1" dirty="0"/>
              <a:t>:</a:t>
            </a:r>
            <a:br>
              <a:rPr lang="ru-RU" sz="3500" dirty="0"/>
            </a:br>
            <a:r>
              <a:rPr lang="ru-RU" sz="3500" dirty="0"/>
              <a:t>Разработка программы для управления базой данных сотрудников с формированием отчётов</a:t>
            </a:r>
            <a:endParaRPr lang="ru-RU" sz="3500" dirty="0"/>
          </a:p>
          <a:p>
            <a:pPr marL="0" indent="0">
              <a:buNone/>
            </a:pPr>
            <a:r>
              <a:rPr lang="ru-RU" sz="3500" b="1" dirty="0"/>
              <a:t>Основные требования:</a:t>
            </a:r>
            <a:endParaRPr lang="ru-RU" sz="3500" dirty="0"/>
          </a:p>
          <a:p>
            <a:r>
              <a:rPr lang="ru-RU" sz="3500" dirty="0"/>
              <a:t>Хранение данных о 25+ сотрудниках</a:t>
            </a:r>
            <a:endParaRPr lang="ru-RU" sz="3500" dirty="0"/>
          </a:p>
          <a:p>
            <a:r>
              <a:rPr lang="ru-RU" sz="3500" dirty="0"/>
              <a:t>Функции добавления, редактирования, удаления записей</a:t>
            </a:r>
            <a:endParaRPr lang="ru-RU" sz="3500" dirty="0"/>
          </a:p>
          <a:p>
            <a:r>
              <a:rPr lang="ru-RU" sz="3500" dirty="0"/>
              <a:t>Формирование 3 видов отчётов с сортировкой слиянием</a:t>
            </a:r>
            <a:endParaRPr lang="ru-RU" sz="3500" dirty="0"/>
          </a:p>
          <a:p>
            <a:r>
              <a:rPr lang="ru-RU" sz="3500" dirty="0"/>
              <a:t>Защита от некорректного ввода данных</a:t>
            </a:r>
            <a:endParaRPr lang="ru-RU" sz="3500" dirty="0"/>
          </a:p>
          <a:p>
            <a:r>
              <a:rPr lang="ru-RU" sz="3500" dirty="0"/>
              <a:t>Удобный пользовательский интерфейс</a:t>
            </a:r>
            <a:endParaRPr lang="ru-RU" sz="3500" dirty="0"/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95416" y="211815"/>
            <a:ext cx="10650631" cy="1237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Организация данных.</a:t>
            </a:r>
            <a:endParaRPr lang="ru-RU" sz="2400" b="1" dirty="0"/>
          </a:p>
          <a:p>
            <a:r>
              <a:rPr lang="ru-RU" sz="2400" b="1" dirty="0"/>
              <a:t>Модель данных сотрудника.</a:t>
            </a:r>
            <a:endParaRPr lang="ru-RU" sz="2400" b="1" dirty="0"/>
          </a:p>
          <a:p>
            <a:r>
              <a:rPr lang="ru-RU" sz="2400" b="1" dirty="0"/>
              <a:t>Каждый сотрудник представлен как объект со следующими атрибутами:</a:t>
            </a:r>
            <a:endParaRPr lang="ru-RU" sz="24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393989" y="1621657"/>
            <a:ext cx="5750011" cy="494270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  <a:endParaRPr lang="ru-RU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393989" y="2042984"/>
            <a:ext cx="575001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33319" y="1647655"/>
            <a:ext cx="3262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 </a:t>
            </a:r>
            <a:r>
              <a:rPr lang="ru-RU" b="1" dirty="0"/>
              <a:t>ОБЪЕКТ "СОТРУДНИК</a:t>
            </a:r>
            <a:r>
              <a:rPr lang="ru-RU" dirty="0"/>
              <a:t>" 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3616410" y="214467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ЛИЧНЫЕ ДАННЫЕ:                      </a:t>
            </a:r>
            <a:endParaRPr lang="ru-RU" b="1" dirty="0"/>
          </a:p>
          <a:p>
            <a:r>
              <a:rPr lang="ru-RU" b="1" dirty="0"/>
              <a:t> </a:t>
            </a:r>
            <a:r>
              <a:rPr lang="ru-RU" dirty="0"/>
              <a:t>• Фамилия (текст, русские буквы)    </a:t>
            </a:r>
            <a:endParaRPr lang="ru-RU" dirty="0"/>
          </a:p>
          <a:p>
            <a:r>
              <a:rPr lang="ru-RU" dirty="0"/>
              <a:t> • Имя (текст, русские буквы)        </a:t>
            </a:r>
            <a:endParaRPr lang="ru-RU" dirty="0"/>
          </a:p>
          <a:p>
            <a:r>
              <a:rPr lang="ru-RU" b="1" dirty="0"/>
              <a:t> • </a:t>
            </a:r>
            <a:r>
              <a:rPr lang="ru-RU" dirty="0"/>
              <a:t>Отчество (текст, русские буквы)   </a:t>
            </a:r>
            <a:endParaRPr lang="ru-RU" dirty="0"/>
          </a:p>
          <a:p>
            <a:r>
              <a:rPr lang="ru-RU" b="1" dirty="0"/>
              <a:t>                                     </a:t>
            </a:r>
            <a:endParaRPr lang="ru-RU" b="1" dirty="0"/>
          </a:p>
          <a:p>
            <a:r>
              <a:rPr lang="ru-RU" b="1" dirty="0"/>
              <a:t> ДАТА РОЖДЕНИЯ:                      </a:t>
            </a:r>
            <a:endParaRPr lang="ru-RU" b="1" dirty="0"/>
          </a:p>
          <a:p>
            <a:r>
              <a:rPr lang="ru-RU" b="1" dirty="0"/>
              <a:t> </a:t>
            </a:r>
            <a:r>
              <a:rPr lang="ru-RU" dirty="0"/>
              <a:t>• Год (число, 1900-2023)            </a:t>
            </a:r>
            <a:endParaRPr lang="ru-RU" dirty="0"/>
          </a:p>
          <a:p>
            <a:r>
              <a:rPr lang="ru-RU" dirty="0"/>
              <a:t> • Месяц (число, 1-12)               </a:t>
            </a:r>
            <a:endParaRPr lang="ru-RU" dirty="0"/>
          </a:p>
          <a:p>
            <a:r>
              <a:rPr lang="ru-RU" dirty="0"/>
              <a:t> • День (число, 1-31)                </a:t>
            </a:r>
            <a:endParaRPr lang="ru-RU" dirty="0"/>
          </a:p>
          <a:p>
            <a:r>
              <a:rPr lang="ru-RU" b="1" dirty="0"/>
              <a:t>                                     </a:t>
            </a:r>
            <a:endParaRPr lang="ru-RU" b="1" dirty="0"/>
          </a:p>
          <a:p>
            <a:r>
              <a:rPr lang="ru-RU" b="1" dirty="0"/>
              <a:t> РАБОЧАЯ ИНФОРМАЦИЯ:                 </a:t>
            </a:r>
            <a:endParaRPr lang="ru-RU" b="1" dirty="0"/>
          </a:p>
          <a:p>
            <a:r>
              <a:rPr lang="ru-RU" b="1" dirty="0"/>
              <a:t> </a:t>
            </a:r>
            <a:r>
              <a:rPr lang="ru-RU" dirty="0"/>
              <a:t>• Отдел (текст, русские буквы)      </a:t>
            </a:r>
            <a:endParaRPr lang="ru-RU" dirty="0"/>
          </a:p>
          <a:p>
            <a:r>
              <a:rPr lang="ru-RU" dirty="0"/>
              <a:t> • Должность (текст, русские буквы)  </a:t>
            </a:r>
            <a:endParaRPr lang="ru-RU" dirty="0"/>
          </a:p>
          <a:p>
            <a:r>
              <a:rPr lang="ru-RU" dirty="0"/>
              <a:t> • Оклад (число, &gt; 0)                </a:t>
            </a:r>
            <a:endParaRPr lang="ru-RU" dirty="0"/>
          </a:p>
          <a:p>
            <a:r>
              <a:rPr lang="ru-RU" dirty="0"/>
              <a:t> • Стаж (число, 0-60 лет)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8411" y="631566"/>
            <a:ext cx="765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Архитектура программы</a:t>
            </a:r>
            <a:r>
              <a:rPr lang="en-US" sz="4400" b="1" dirty="0">
                <a:solidFill>
                  <a:schemeClr val="bg1"/>
                </a:solidFill>
              </a:rPr>
              <a:t>: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17773" y="1779373"/>
            <a:ext cx="3756451" cy="110897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>
            <a:stCxn id="7" idx="2"/>
          </p:cNvCxnSpPr>
          <p:nvPr/>
        </p:nvCxnSpPr>
        <p:spPr>
          <a:xfrm>
            <a:off x="6095999" y="2888351"/>
            <a:ext cx="1" cy="6903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217773" y="2957384"/>
            <a:ext cx="375645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217773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6096000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7974227" y="2957384"/>
            <a:ext cx="0" cy="4716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604066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7360520" y="3445474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482293" y="3429000"/>
            <a:ext cx="1227413" cy="10935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>
            <a:stCxn id="19" idx="2"/>
            <a:endCxn id="36" idx="0"/>
          </p:cNvCxnSpPr>
          <p:nvPr/>
        </p:nvCxnSpPr>
        <p:spPr>
          <a:xfrm>
            <a:off x="4217773" y="4522571"/>
            <a:ext cx="1874112" cy="458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6095997" y="4508152"/>
            <a:ext cx="1" cy="486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endCxn id="36" idx="0"/>
          </p:cNvCxnSpPr>
          <p:nvPr/>
        </p:nvCxnSpPr>
        <p:spPr>
          <a:xfrm flipH="1">
            <a:off x="6091885" y="4539045"/>
            <a:ext cx="1882340" cy="4421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94886" y="1801096"/>
            <a:ext cx="32093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main.py              </a:t>
            </a:r>
            <a:endParaRPr lang="ru-RU" sz="2000" b="1" dirty="0">
              <a:solidFill>
                <a:schemeClr val="bg1"/>
              </a:solidFill>
            </a:endParaRPr>
          </a:p>
          <a:p>
            <a:pPr algn="ctr"/>
            <a:r>
              <a:rPr lang="ru-RU" sz="2000" b="1" dirty="0">
                <a:solidFill>
                  <a:schemeClr val="bg1"/>
                </a:solidFill>
              </a:rPr>
              <a:t> Запуск программы</a:t>
            </a:r>
            <a:endParaRPr lang="en-GB" sz="2000" b="1" dirty="0">
              <a:solidFill>
                <a:schemeClr val="bg1"/>
              </a:solidFill>
            </a:endParaRPr>
          </a:p>
          <a:p>
            <a:pPr algn="ctr"/>
            <a:r>
              <a:rPr lang="ru-RU" sz="2000" b="1" dirty="0">
                <a:solidFill>
                  <a:schemeClr val="bg1"/>
                </a:solidFill>
              </a:rPr>
              <a:t>Координация модулей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89622" y="3461827"/>
            <a:ext cx="11985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Interface</a:t>
            </a:r>
            <a:r>
              <a:rPr lang="ru-RU" sz="1600" b="1" dirty="0">
                <a:solidFill>
                  <a:schemeClr val="bg1"/>
                </a:solidFill>
              </a:rPr>
              <a:t>.</a:t>
            </a:r>
            <a:r>
              <a:rPr lang="en-GB" sz="1600" b="1" dirty="0" err="1">
                <a:solidFill>
                  <a:schemeClr val="bg1"/>
                </a:solidFill>
              </a:rPr>
              <a:t>py</a:t>
            </a:r>
            <a:endParaRPr lang="en-GB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Меню</a:t>
            </a:r>
            <a:endParaRPr lang="ru-RU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Интерфейс</a:t>
            </a:r>
            <a:endParaRPr lang="ru-RU" sz="1600" b="1" dirty="0">
              <a:solidFill>
                <a:schemeClr val="bg1"/>
              </a:solidFill>
            </a:endParaRPr>
          </a:p>
          <a:p>
            <a:r>
              <a:rPr lang="ru-RU" sz="1600" b="1" dirty="0">
                <a:solidFill>
                  <a:schemeClr val="bg1"/>
                </a:solidFill>
              </a:rPr>
              <a:t>Вывод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39027" y="3430934"/>
            <a:ext cx="12851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 err="1">
                <a:solidFill>
                  <a:schemeClr val="bg1"/>
                </a:solidFill>
              </a:rPr>
              <a:t>Database.py</a:t>
            </a:r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Данные</a:t>
            </a:r>
            <a:endParaRPr lang="ru-RU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Хранение </a:t>
            </a:r>
            <a:endParaRPr lang="ru-RU" sz="1600" b="1" dirty="0">
              <a:solidFill>
                <a:schemeClr val="bg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CRUD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69888" y="3399532"/>
            <a:ext cx="14086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reports.py</a:t>
            </a:r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Отчеты </a:t>
            </a:r>
            <a:endParaRPr lang="ru-RU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Сортировка</a:t>
            </a:r>
            <a:endParaRPr lang="ru-RU" sz="1600" b="1" dirty="0">
              <a:solidFill>
                <a:schemeClr val="bg1"/>
              </a:solidFill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Фильтрация </a:t>
            </a:r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20733" y="4981192"/>
            <a:ext cx="1742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 err="1">
                <a:solidFill>
                  <a:schemeClr val="accent1"/>
                </a:solidFill>
              </a:rPr>
              <a:t>Validation.py</a:t>
            </a:r>
            <a:endParaRPr lang="en-GB" b="1" dirty="0">
              <a:solidFill>
                <a:schemeClr val="accent1"/>
              </a:solidFill>
            </a:endParaRPr>
          </a:p>
          <a:p>
            <a:pPr algn="ctr"/>
            <a:r>
              <a:rPr lang="ru-RU" b="1" dirty="0">
                <a:solidFill>
                  <a:schemeClr val="accent1"/>
                </a:solidFill>
              </a:rPr>
              <a:t>Проверка данных</a:t>
            </a:r>
            <a:endParaRPr lang="ru-RU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71848" y="349843"/>
            <a:ext cx="76447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Алгоритм сортировки слиянием</a:t>
            </a:r>
            <a:r>
              <a:rPr lang="en-US" sz="4000" b="1" dirty="0"/>
              <a:t>:</a:t>
            </a:r>
            <a:endParaRPr lang="ru-RU" sz="4000" b="1" dirty="0"/>
          </a:p>
          <a:p>
            <a:pPr algn="ctr"/>
            <a:endParaRPr lang="ru-RU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1161533" y="1592120"/>
            <a:ext cx="696921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Принцип работы</a:t>
            </a:r>
            <a:r>
              <a:rPr lang="en-US" sz="2800" b="1" dirty="0"/>
              <a:t>:</a:t>
            </a:r>
            <a:endParaRPr lang="en-US" sz="2800" b="1" dirty="0"/>
          </a:p>
          <a:p>
            <a:endParaRPr lang="ru-RU" sz="2400" dirty="0"/>
          </a:p>
          <a:p>
            <a:r>
              <a:rPr lang="ru-RU" sz="2400" b="1" dirty="0"/>
              <a:t>1. РАЗДЕЛЕНИЕ</a:t>
            </a:r>
            <a:endParaRPr lang="ru-RU" sz="2400" b="1" dirty="0"/>
          </a:p>
          <a:p>
            <a:r>
              <a:rPr lang="ru-RU" sz="2400" dirty="0"/>
              <a:t>   Массив → [Левая часть] [Правая часть]</a:t>
            </a:r>
            <a:endParaRPr lang="ru-RU" sz="2400" dirty="0"/>
          </a:p>
          <a:p>
            <a:r>
              <a:rPr lang="ru-RU" sz="2400" dirty="0"/>
              <a:t>   </a:t>
            </a:r>
            <a:endParaRPr lang="ru-RU" sz="2400" dirty="0"/>
          </a:p>
          <a:p>
            <a:r>
              <a:rPr lang="ru-RU" sz="2400" b="1" dirty="0"/>
              <a:t>2. РЕКУРСИЯ</a:t>
            </a:r>
            <a:endParaRPr lang="ru-RU" sz="2400" b="1" dirty="0"/>
          </a:p>
          <a:p>
            <a:r>
              <a:rPr lang="ru-RU" sz="2400" dirty="0"/>
              <a:t>   Сортировка каждой части тем же методом</a:t>
            </a:r>
            <a:endParaRPr lang="ru-RU" sz="2400" dirty="0"/>
          </a:p>
          <a:p>
            <a:r>
              <a:rPr lang="ru-RU" sz="2400" dirty="0"/>
              <a:t>   </a:t>
            </a:r>
            <a:endParaRPr lang="ru-RU" sz="2400" dirty="0"/>
          </a:p>
          <a:p>
            <a:r>
              <a:rPr lang="ru-RU" sz="2400" b="1" dirty="0"/>
              <a:t>3. СЛИЯНИЕ</a:t>
            </a:r>
            <a:endParaRPr lang="ru-RU" sz="2400" b="1" dirty="0"/>
          </a:p>
          <a:p>
            <a:r>
              <a:rPr lang="ru-RU" sz="2400" dirty="0"/>
              <a:t>   [</a:t>
            </a:r>
            <a:r>
              <a:rPr lang="ru-RU" sz="2400" dirty="0" err="1"/>
              <a:t>Отсорт</a:t>
            </a:r>
            <a:r>
              <a:rPr lang="ru-RU" sz="2400" dirty="0"/>
              <a:t>. левая] + [</a:t>
            </a:r>
            <a:r>
              <a:rPr lang="ru-RU" sz="2400" dirty="0" err="1"/>
              <a:t>Отсорт</a:t>
            </a:r>
            <a:r>
              <a:rPr lang="ru-RU" sz="2400" dirty="0"/>
              <a:t>. правая] → [Результат]</a:t>
            </a:r>
            <a:endParaRPr lang="ru-RU" sz="2400" dirty="0"/>
          </a:p>
          <a:p>
            <a:endParaRPr lang="ru-RU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892" y="300230"/>
            <a:ext cx="113682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Отчёты программы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ru-RU" sz="4400" b="1" dirty="0">
                <a:solidFill>
                  <a:schemeClr val="bg1"/>
                </a:solidFill>
              </a:rPr>
              <a:t>и система проверки данных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6669" y="19568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 ГЛАВНОЕ МЕНЮ (8 пунктов)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05250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011194" y="2120270"/>
            <a:ext cx="471204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Три вида отчётов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1: Полный список сотрудников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год↓, стаж↓, фамилия↑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2: Сотрудники отдела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оклад↓, фамилия↑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Отчёт 3: Сотрудники с окладом выше среднего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Сортировка: должность↑, фамилия↑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13837" y="1956886"/>
            <a:ext cx="4712043" cy="4452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919781" y="2156941"/>
            <a:ext cx="45658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Особенности проверки ввода данных: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русских букв (ФИО, отдел, должность)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Контроль корректности дат (високосные годы)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Проверка числовых диапазонов (год, стаж, оклад)</a:t>
            </a:r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Защита от пустого ввода</a:t>
            </a:r>
            <a:endParaRPr lang="ru-RU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042983" y="160373"/>
            <a:ext cx="7644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Примеры работы кода</a:t>
            </a:r>
            <a:r>
              <a:rPr lang="en-US" sz="4800" b="1" dirty="0"/>
              <a:t>:</a:t>
            </a:r>
            <a:endParaRPr lang="ru-RU" sz="48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70" y="1598140"/>
            <a:ext cx="6637949" cy="44652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9" y="2353147"/>
            <a:ext cx="4229690" cy="2448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989" y="3239563"/>
            <a:ext cx="3441691" cy="31033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22" y="1861579"/>
            <a:ext cx="6996505" cy="9194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543" y="3101471"/>
            <a:ext cx="4765492" cy="33795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670810" y="844550"/>
            <a:ext cx="7118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Пример добавления, редактирования, удаления :</a:t>
            </a:r>
            <a:endParaRPr lang="ru-RU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666144"/>
            <a:ext cx="5401524" cy="30543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200" y="1938075"/>
            <a:ext cx="4617347" cy="12521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54" y="4293844"/>
            <a:ext cx="5151346" cy="11266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049" y="3997606"/>
            <a:ext cx="3163426" cy="25267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1053200" y="1162747"/>
            <a:ext cx="39781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1" dirty="0"/>
              <a:t>Пример тестов</a:t>
            </a:r>
            <a:r>
              <a:rPr lang="ru-RU" sz="2400" dirty="0"/>
              <a:t>:</a:t>
            </a: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200" y="1162747"/>
            <a:ext cx="397813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800" b="1" dirty="0"/>
              <a:t>Пример отчётов</a:t>
            </a:r>
            <a:r>
              <a:rPr lang="en-US" altLang="ru-RU" sz="2800" b="1" dirty="0"/>
              <a:t>:</a:t>
            </a:r>
            <a:endParaRPr lang="en-US" altLang="ru-RU" sz="2800" b="1" dirty="0"/>
          </a:p>
        </p:txBody>
      </p:sp>
      <p:pic>
        <p:nvPicPr>
          <p:cNvPr id="9" name="Изображение 8" descr="Снимок экрана от 2026-01-14 10-14-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0440" y="267970"/>
            <a:ext cx="4601210" cy="3167380"/>
          </a:xfrm>
          <a:prstGeom prst="rect">
            <a:avLst/>
          </a:prstGeom>
        </p:spPr>
      </p:pic>
      <p:pic>
        <p:nvPicPr>
          <p:cNvPr id="10" name="Изображение 9" descr="Снимок экрана от 2026-01-14 10-14-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902585"/>
            <a:ext cx="5158740" cy="3133725"/>
          </a:xfrm>
          <a:prstGeom prst="rect">
            <a:avLst/>
          </a:prstGeom>
        </p:spPr>
      </p:pic>
      <p:pic>
        <p:nvPicPr>
          <p:cNvPr id="11" name="Изображение 10" descr="Снимок экрана от 2026-01-14 10-14-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3696970"/>
            <a:ext cx="5560060" cy="2515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61952" y="-423910"/>
            <a:ext cx="3650668" cy="2051579"/>
          </a:xfrm>
        </p:spPr>
        <p:txBody>
          <a:bodyPr/>
          <a:lstStyle/>
          <a:p>
            <a:r>
              <a:rPr lang="ru-RU" sz="5400" b="1" dirty="0">
                <a:latin typeface="+mn-lt"/>
                <a:cs typeface="+mn-lt"/>
              </a:rPr>
              <a:t>Итог: </a:t>
            </a:r>
            <a:endParaRPr lang="ru-RU" sz="5400" b="1" dirty="0">
              <a:latin typeface="+mn-lt"/>
              <a:cs typeface="+mn-lt"/>
            </a:endParaRPr>
          </a:p>
        </p:txBody>
      </p:sp>
      <p:sp>
        <p:nvSpPr>
          <p:cNvPr id="15" name="Текст 14"/>
          <p:cNvSpPr txBox="1">
            <a:spLocks noGrp="1"/>
          </p:cNvSpPr>
          <p:nvPr>
            <p:ph type="body" idx="1"/>
          </p:nvPr>
        </p:nvSpPr>
        <p:spPr>
          <a:xfrm>
            <a:off x="1085430" y="1815737"/>
            <a:ext cx="10551314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 результате работы была успешно разработана программа "Учёт сотрудников", которая:</a:t>
            </a:r>
            <a:endParaRPr lang="ru-RU" b="1" dirty="0"/>
          </a:p>
          <a:p>
            <a:r>
              <a:rPr lang="ru-RU" b="1" dirty="0"/>
              <a:t>Полностью соответствует всем требованиям технического задания</a:t>
            </a:r>
            <a:r>
              <a:rPr lang="en-US" b="1" dirty="0"/>
              <a:t> </a:t>
            </a:r>
            <a:endParaRPr lang="ru-RU" b="1" dirty="0"/>
          </a:p>
          <a:p>
            <a:r>
              <a:rPr lang="ru-RU" b="1" dirty="0"/>
              <a:t>Обеспечивает удобную работу с базой данных сотрудников</a:t>
            </a:r>
            <a:r>
              <a:rPr lang="en-US" b="1" dirty="0"/>
              <a:t> </a:t>
            </a:r>
            <a:endParaRPr lang="ru-RU" b="1" dirty="0"/>
          </a:p>
          <a:p>
            <a:r>
              <a:rPr lang="ru-RU" b="1" dirty="0"/>
              <a:t>Реализует все необходимые функции с использованием сортировки слиянием</a:t>
            </a:r>
            <a:endParaRPr lang="ru-RU" b="1" dirty="0"/>
          </a:p>
          <a:p>
            <a:r>
              <a:rPr lang="en-US" b="1" dirty="0"/>
              <a:t> </a:t>
            </a:r>
            <a:r>
              <a:rPr lang="ru-RU" b="1" dirty="0"/>
              <a:t>Гарантирует корректность данных благодаря системе проверки ввода данных</a:t>
            </a:r>
            <a:endParaRPr lang="ru-RU" b="1" dirty="0"/>
          </a:p>
          <a:p>
            <a:r>
              <a:rPr lang="ru-RU" b="1" dirty="0"/>
              <a:t>Прошла всестороннее тестирование и доказала свою надёжность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190911" cy="1668284"/>
          </a:xfrm>
        </p:spPr>
        <p:txBody>
          <a:bodyPr>
            <a:noAutofit/>
          </a:bodyPr>
          <a:lstStyle/>
          <a:p>
            <a:r>
              <a:rPr lang="ru-RU" sz="8000" b="1" dirty="0"/>
              <a:t>Спасибо за внимание</a:t>
            </a:r>
            <a:endParaRPr lang="ru-RU"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2542</Words>
  <Application>WPS Presentation</Application>
  <PresentationFormat>Широкоэкранный</PresentationFormat>
  <Paragraphs>123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PermianSansTypeface</vt:lpstr>
      <vt:lpstr>Noto Serif CJK HK ExtraLight</vt:lpstr>
      <vt:lpstr>PermianSerifTypeface</vt:lpstr>
      <vt:lpstr>Montserrat Thin</vt:lpstr>
      <vt:lpstr>Microsoft YaHei</vt:lpstr>
      <vt:lpstr>Droid Sans Fallback</vt:lpstr>
      <vt:lpstr>Arial Unicode MS</vt:lpstr>
      <vt:lpstr>Calibri</vt:lpstr>
      <vt:lpstr>Тема Office</vt:lpstr>
      <vt:lpstr>Учёт сотрудников предприятия. Разработка программного решения для автоматизации кадрового учёта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Итог: 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student</cp:lastModifiedBy>
  <cp:revision>36</cp:revision>
  <dcterms:created xsi:type="dcterms:W3CDTF">2026-01-14T05:16:54Z</dcterms:created>
  <dcterms:modified xsi:type="dcterms:W3CDTF">2026-01-14T05:16:54Z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